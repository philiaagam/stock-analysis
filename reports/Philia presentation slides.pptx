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chivo Black" panose="020B0604020202020204" charset="0"/>
      <p:regular r:id="rId12"/>
    </p:embeddedFont>
    <p:embeddedFont>
      <p:font typeface="TT Hoves" panose="020B0604020202020204" charset="0"/>
      <p:regular r:id="rId13"/>
    </p:embeddedFont>
    <p:embeddedFont>
      <p:font typeface="TT Hove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510" y="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" name="Group 3"/>
          <p:cNvGrpSpPr/>
          <p:nvPr/>
        </p:nvGrpSpPr>
        <p:grpSpPr>
          <a:xfrm>
            <a:off x="150586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150295"/>
                  </a:lnTo>
                  <a:cubicBezTo>
                    <a:pt x="4274726" y="2159779"/>
                    <a:pt x="4267038" y="2167467"/>
                    <a:pt x="4257554" y="2167467"/>
                  </a:cubicBezTo>
                  <a:lnTo>
                    <a:pt x="17172" y="2167467"/>
                  </a:lnTo>
                  <a:cubicBezTo>
                    <a:pt x="7688" y="2167467"/>
                    <a:pt x="0" y="2159779"/>
                    <a:pt x="0" y="2150295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0000"/>
                  </a:srgbClr>
                </a:gs>
                <a:gs pos="100000">
                  <a:srgbClr val="33CD91">
                    <a:alpha val="70000"/>
                  </a:srgbClr>
                </a:gs>
              </a:gsLst>
              <a:lin ang="0"/>
            </a:gradFill>
            <a:ln w="47625" cap="rnd">
              <a:solidFill>
                <a:srgbClr val="BEC2C7">
                  <a:alpha val="6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682907" y="1784150"/>
            <a:ext cx="762000" cy="640080"/>
          </a:xfrm>
          <a:custGeom>
            <a:avLst/>
            <a:gdLst/>
            <a:ahLst/>
            <a:cxnLst/>
            <a:rect l="l" t="t" r="r" b="b"/>
            <a:pathLst>
              <a:path w="762000" h="64008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TextBox 7"/>
          <p:cNvSpPr txBox="1"/>
          <p:nvPr/>
        </p:nvSpPr>
        <p:spPr>
          <a:xfrm>
            <a:off x="4648200" y="2723709"/>
            <a:ext cx="10469085" cy="3018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19"/>
              </a:lnSpc>
            </a:pPr>
            <a:r>
              <a:rPr lang="en-US" sz="8656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Stock Market Trend Prediction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64541" y="5701542"/>
            <a:ext cx="7549518" cy="1666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dirty="0">
                <a:solidFill>
                  <a:srgbClr val="FFFFFF"/>
                </a:solidFill>
                <a:latin typeface="+mj-lt"/>
                <a:ea typeface="TT Hoves"/>
                <a:cs typeface="TT Hoves"/>
                <a:sym typeface="TT Hoves"/>
              </a:rPr>
              <a:t>By</a:t>
            </a:r>
          </a:p>
          <a:p>
            <a:pPr algn="ctr">
              <a:lnSpc>
                <a:spcPts val="6719"/>
              </a:lnSpc>
            </a:pPr>
            <a:r>
              <a:rPr lang="en-US" sz="4800" dirty="0">
                <a:solidFill>
                  <a:srgbClr val="FFFFFF"/>
                </a:solidFill>
                <a:latin typeface="+mj-lt"/>
                <a:ea typeface="TT Hoves"/>
                <a:cs typeface="TT Hoves"/>
                <a:sym typeface="TT Hoves"/>
              </a:rPr>
              <a:t>Philia Agam Ayuk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83452" y="8203034"/>
            <a:ext cx="3580548" cy="517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spc="80" dirty="0">
                <a:solidFill>
                  <a:srgbClr val="FFFFFF"/>
                </a:solidFill>
                <a:latin typeface="+mj-lt"/>
                <a:ea typeface="TT Hoves"/>
                <a:cs typeface="TT Hoves"/>
                <a:sym typeface="TT Hoves"/>
              </a:rPr>
              <a:t>December</a:t>
            </a:r>
            <a:r>
              <a:rPr lang="en-US" sz="3099" spc="80" dirty="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 2025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B1C5754-995A-EBCB-C0CC-849729757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62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C7900F0-4FB6-B13A-1702-4B9E5078B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E45AF9-1037-DDEB-CBE5-EFA39941A35E}"/>
              </a:ext>
            </a:extLst>
          </p:cNvPr>
          <p:cNvSpPr txBox="1"/>
          <p:nvPr/>
        </p:nvSpPr>
        <p:spPr>
          <a:xfrm>
            <a:off x="4572000" y="4572159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7760"/>
            <a:ext cx="8343913" cy="11375203"/>
            <a:chOff x="0" y="0"/>
            <a:chExt cx="2197574" cy="29959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7574" cy="2995938"/>
            </a:xfrm>
            <a:custGeom>
              <a:avLst/>
              <a:gdLst/>
              <a:ahLst/>
              <a:cxnLst/>
              <a:rect l="l" t="t" r="r" b="b"/>
              <a:pathLst>
                <a:path w="2197574" h="2995938">
                  <a:moveTo>
                    <a:pt x="0" y="0"/>
                  </a:moveTo>
                  <a:lnTo>
                    <a:pt x="2197574" y="0"/>
                  </a:lnTo>
                  <a:lnTo>
                    <a:pt x="2197574" y="2995938"/>
                  </a:lnTo>
                  <a:lnTo>
                    <a:pt x="0" y="2995938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3CD91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97574" cy="3043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609600" y="33236"/>
            <a:ext cx="6016283" cy="11904250"/>
            <a:chOff x="0" y="0"/>
            <a:chExt cx="2620010" cy="5184140"/>
          </a:xfrm>
        </p:grpSpPr>
        <p:sp>
          <p:nvSpPr>
            <p:cNvPr id="6" name="Freeform 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Freeform 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43488" r="-81159"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Freeform 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Freeform 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6" name="Freeform 16"/>
          <p:cNvSpPr/>
          <p:nvPr/>
        </p:nvSpPr>
        <p:spPr>
          <a:xfrm rot="1184394">
            <a:off x="11034886" y="2333726"/>
            <a:ext cx="8379362" cy="8089893"/>
          </a:xfrm>
          <a:custGeom>
            <a:avLst/>
            <a:gdLst/>
            <a:ahLst/>
            <a:cxnLst/>
            <a:rect l="l" t="t" r="r" b="b"/>
            <a:pathLst>
              <a:path w="8379362" h="8089893">
                <a:moveTo>
                  <a:pt x="0" y="0"/>
                </a:moveTo>
                <a:lnTo>
                  <a:pt x="8379362" y="0"/>
                </a:lnTo>
                <a:lnTo>
                  <a:pt x="8379362" y="8089893"/>
                </a:lnTo>
                <a:lnTo>
                  <a:pt x="0" y="80898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CA"/>
          </a:p>
        </p:txBody>
      </p:sp>
      <p:sp>
        <p:nvSpPr>
          <p:cNvPr id="17" name="TextBox 17"/>
          <p:cNvSpPr txBox="1"/>
          <p:nvPr/>
        </p:nvSpPr>
        <p:spPr>
          <a:xfrm>
            <a:off x="9472168" y="1386165"/>
            <a:ext cx="4802328" cy="74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4"/>
              </a:lnSpc>
            </a:pPr>
            <a:r>
              <a:rPr lang="en-US" sz="48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Project Overview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32043" y="2706884"/>
            <a:ext cx="8223873" cy="5945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2940"/>
              </a:lnSpc>
              <a:buFont typeface="Wingdings" panose="05000000000000000000" pitchFamily="2" charset="2"/>
              <a:buChar char="Ø"/>
            </a:pPr>
            <a:r>
              <a:rPr lang="en-US" sz="3200" dirty="0" err="1">
                <a:solidFill>
                  <a:schemeClr val="bg1"/>
                </a:solidFill>
                <a:latin typeface="+mj-lt"/>
                <a:ea typeface="TT Hoves"/>
                <a:cs typeface="TT Hoves"/>
                <a:sym typeface="TT Hoves"/>
              </a:rPr>
              <a:t>MarketPulse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+mj-lt"/>
                <a:ea typeface="TT Hoves"/>
                <a:cs typeface="TT Hoves"/>
                <a:sym typeface="TT Hoves"/>
              </a:rPr>
              <a:t>Analystics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TT Hoves"/>
                <a:cs typeface="TT Hoves"/>
                <a:sym typeface="TT Hoves"/>
              </a:rPr>
              <a:t> engaged the service of a data scientist to 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Inter"/>
                <a:cs typeface="TT Hoves"/>
                <a:sym typeface="Inter"/>
              </a:rPr>
              <a:t>d</a:t>
            </a:r>
            <a:r>
              <a:rPr lang="en-US" sz="3200" dirty="0">
                <a:solidFill>
                  <a:schemeClr val="bg1"/>
                </a:solidFill>
                <a:latin typeface="+mj-lt"/>
                <a:ea typeface="Inter"/>
                <a:cs typeface="Inter"/>
                <a:sym typeface="Inter"/>
              </a:rPr>
              <a:t>eploy data-driven market analysis and predictive modeling to enhance trading performance and systematize decision-making.</a:t>
            </a:r>
          </a:p>
          <a:p>
            <a:pPr marL="342900" indent="-342900" algn="just">
              <a:lnSpc>
                <a:spcPts val="294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  <a:latin typeface="+mj-lt"/>
                <a:ea typeface="Inter"/>
                <a:cs typeface="Inter"/>
                <a:sym typeface="Inter"/>
              </a:rPr>
              <a:t>Datasets specifications4 datasets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GB" sz="3200" dirty="0">
                <a:solidFill>
                  <a:schemeClr val="bg1"/>
                </a:solidFill>
                <a:latin typeface="+mj-lt"/>
              </a:rPr>
              <a:t>20 stocks across 5 sectors (Technology, Healthcare, Finance, Consumer, Energy).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GB" sz="3200" dirty="0">
                <a:solidFill>
                  <a:schemeClr val="bg1"/>
                </a:solidFill>
                <a:latin typeface="+mj-lt"/>
              </a:rPr>
              <a:t>3+ years of daily OHLCV data (approximately 750+ trading days per stock).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GB" sz="3200" dirty="0">
                <a:solidFill>
                  <a:schemeClr val="bg1"/>
                </a:solidFill>
                <a:latin typeface="+mj-lt"/>
              </a:rPr>
              <a:t>40+ technical indicators and derived features per stock per day</a:t>
            </a:r>
            <a:endParaRPr lang="en-CA" sz="3200" dirty="0">
              <a:solidFill>
                <a:schemeClr val="bg1"/>
              </a:solidFill>
              <a:latin typeface="+mj-lt"/>
            </a:endParaRPr>
          </a:p>
          <a:p>
            <a:pPr marL="342900" indent="-342900" algn="just">
              <a:lnSpc>
                <a:spcPts val="294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FFFFFF"/>
                </a:solidFill>
                <a:latin typeface="+mj-lt"/>
                <a:ea typeface="TT Hoves"/>
                <a:cs typeface="TT Hoves"/>
                <a:sym typeface="TT Hoves"/>
              </a:rPr>
              <a:t>Use Machine Learning to classify stock market trend.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028700" y="7931212"/>
            <a:ext cx="6005824" cy="622422"/>
          </a:xfrm>
          <a:custGeom>
            <a:avLst/>
            <a:gdLst/>
            <a:ahLst/>
            <a:cxnLst/>
            <a:rect l="l" t="t" r="r" b="b"/>
            <a:pathLst>
              <a:path w="6005824" h="622422">
                <a:moveTo>
                  <a:pt x="0" y="0"/>
                </a:moveTo>
                <a:lnTo>
                  <a:pt x="6005824" y="0"/>
                </a:lnTo>
                <a:lnTo>
                  <a:pt x="6005824" y="622421"/>
                </a:lnTo>
                <a:lnTo>
                  <a:pt x="0" y="622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676400" y="1517799"/>
            <a:ext cx="5630713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800" b="1" dirty="0">
                <a:solidFill>
                  <a:srgbClr val="00B050"/>
                </a:solidFill>
              </a:rPr>
              <a:t>Dataset 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3901" y="2753453"/>
            <a:ext cx="8267700" cy="4680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20 publicly traded stocks across five(5) sectors such as healthcare, finance, consumer, energy, technology.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Daily historical price data collected in  (Open, High, Low, Close, Volume) format of 780 business days over 3 years.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Engineered technical indicators: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RSI, MACD, Bollinger Bands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Volatility and momentum measures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Market indices and company-level metadata used for context</a:t>
            </a:r>
            <a:endParaRPr lang="en-US" sz="3600" dirty="0">
              <a:solidFill>
                <a:schemeClr val="bg2"/>
              </a:solidFill>
            </a:endParaRPr>
          </a:p>
          <a:p>
            <a:pPr algn="l">
              <a:lnSpc>
                <a:spcPts val="2940"/>
              </a:lnSpc>
            </a:pPr>
            <a:endParaRPr lang="en-US" sz="2800" dirty="0">
              <a:solidFill>
                <a:schemeClr val="bg1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pic>
        <p:nvPicPr>
          <p:cNvPr id="10" name="Picture 9" descr="A diagram of a distribution of daily returns">
            <a:extLst>
              <a:ext uri="{FF2B5EF4-FFF2-40B4-BE49-F238E27FC236}">
                <a16:creationId xmlns:a16="http://schemas.microsoft.com/office/drawing/2014/main" id="{D8788FAD-D1B8-9685-0F3F-47C3063B1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1282585"/>
            <a:ext cx="8572500" cy="66153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53599" y="3262804"/>
            <a:ext cx="3199112" cy="6384404"/>
          </a:xfrm>
          <a:custGeom>
            <a:avLst/>
            <a:gdLst/>
            <a:ahLst/>
            <a:cxnLst/>
            <a:rect l="l" t="t" r="r" b="b"/>
            <a:pathLst>
              <a:path w="4155667" h="6384404">
                <a:moveTo>
                  <a:pt x="0" y="0"/>
                </a:moveTo>
                <a:lnTo>
                  <a:pt x="4155666" y="0"/>
                </a:lnTo>
                <a:lnTo>
                  <a:pt x="4155666" y="6384404"/>
                </a:lnTo>
                <a:lnTo>
                  <a:pt x="0" y="6384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027317" y="1159216"/>
            <a:ext cx="3025394" cy="7968568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75888" r="-48760"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328643" y="52925"/>
            <a:ext cx="5630713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0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Key EDA Insights </a:t>
            </a:r>
          </a:p>
        </p:txBody>
      </p:sp>
      <p:pic>
        <p:nvPicPr>
          <p:cNvPr id="27" name="Picture 26" descr="A graph of green and red lines&#10;&#10;AI-generated content may be incorrect.">
            <a:extLst>
              <a:ext uri="{FF2B5EF4-FFF2-40B4-BE49-F238E27FC236}">
                <a16:creationId xmlns:a16="http://schemas.microsoft.com/office/drawing/2014/main" id="{2E6300EE-264D-4FDA-5AA9-B27614955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745" y="979410"/>
            <a:ext cx="7445807" cy="4163113"/>
          </a:xfrm>
          <a:prstGeom prst="rect">
            <a:avLst/>
          </a:prstGeom>
        </p:spPr>
      </p:pic>
      <p:pic>
        <p:nvPicPr>
          <p:cNvPr id="30" name="Picture 29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6D1107B1-0FFE-606D-E3C5-0D64E95D93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766" y="5439163"/>
            <a:ext cx="7397763" cy="4163113"/>
          </a:xfrm>
          <a:prstGeom prst="rect">
            <a:avLst/>
          </a:prstGeom>
        </p:spPr>
      </p:pic>
      <p:pic>
        <p:nvPicPr>
          <p:cNvPr id="32" name="Picture 31" descr="A graph of a stock market&#10;&#10;AI-generated content may be incorrect.">
            <a:extLst>
              <a:ext uri="{FF2B5EF4-FFF2-40B4-BE49-F238E27FC236}">
                <a16:creationId xmlns:a16="http://schemas.microsoft.com/office/drawing/2014/main" id="{DE2D112F-ABA6-5431-023C-3256CA7C93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5227" y="912135"/>
            <a:ext cx="6798028" cy="4230388"/>
          </a:xfrm>
          <a:prstGeom prst="rect">
            <a:avLst/>
          </a:prstGeom>
        </p:spPr>
      </p:pic>
      <p:pic>
        <p:nvPicPr>
          <p:cNvPr id="34" name="Picture 33" descr="A colorful squares with black text&#10;&#10;AI-generated content may be incorrect.">
            <a:extLst>
              <a:ext uri="{FF2B5EF4-FFF2-40B4-BE49-F238E27FC236}">
                <a16:creationId xmlns:a16="http://schemas.microsoft.com/office/drawing/2014/main" id="{740C4D98-870E-295D-5CF7-E4220844D6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99780" y="5338533"/>
            <a:ext cx="6798027" cy="48606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28700" y="6067476"/>
            <a:ext cx="4491243" cy="1812829"/>
          </a:xfrm>
          <a:custGeom>
            <a:avLst/>
            <a:gdLst/>
            <a:ahLst/>
            <a:cxnLst/>
            <a:rect l="l" t="t" r="r" b="b"/>
            <a:pathLst>
              <a:path w="4491243" h="1812829">
                <a:moveTo>
                  <a:pt x="0" y="0"/>
                </a:moveTo>
                <a:lnTo>
                  <a:pt x="4491243" y="0"/>
                </a:lnTo>
                <a:lnTo>
                  <a:pt x="4491243" y="1812829"/>
                </a:lnTo>
                <a:lnTo>
                  <a:pt x="0" y="1812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028700" y="8114329"/>
            <a:ext cx="5469601" cy="904970"/>
          </a:xfrm>
          <a:custGeom>
            <a:avLst/>
            <a:gdLst/>
            <a:ahLst/>
            <a:cxnLst/>
            <a:rect l="l" t="t" r="r" b="b"/>
            <a:pathLst>
              <a:path w="5469601" h="904970">
                <a:moveTo>
                  <a:pt x="0" y="0"/>
                </a:moveTo>
                <a:lnTo>
                  <a:pt x="5469601" y="0"/>
                </a:lnTo>
                <a:lnTo>
                  <a:pt x="5469601" y="904971"/>
                </a:lnTo>
                <a:lnTo>
                  <a:pt x="0" y="9049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 rot="-507067">
            <a:off x="14938368" y="-2759229"/>
            <a:ext cx="7042553" cy="7042553"/>
          </a:xfrm>
          <a:custGeom>
            <a:avLst/>
            <a:gdLst/>
            <a:ahLst/>
            <a:cxnLst/>
            <a:rect l="l" t="t" r="r" b="b"/>
            <a:pathLst>
              <a:path w="7042553" h="7042553">
                <a:moveTo>
                  <a:pt x="0" y="0"/>
                </a:moveTo>
                <a:lnTo>
                  <a:pt x="7042553" y="0"/>
                </a:lnTo>
                <a:lnTo>
                  <a:pt x="7042553" y="7042553"/>
                </a:lnTo>
                <a:lnTo>
                  <a:pt x="0" y="70425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1698407" y="470880"/>
            <a:ext cx="9599788" cy="796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dirty="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Modeling Approach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200" y="3864973"/>
            <a:ext cx="4958221" cy="2233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294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  <a:ea typeface="TT Hoves"/>
                <a:cs typeface="TT Hoves"/>
                <a:sym typeface="TT Hoves"/>
              </a:rPr>
              <a:t>To avoid data leakages </a:t>
            </a:r>
          </a:p>
          <a:p>
            <a:pPr marL="457200" indent="-457200">
              <a:lnSpc>
                <a:spcPts val="294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A time-based split was used to reflect real-world trading, where future prices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are predicted using only past information.</a:t>
            </a:r>
            <a:endParaRPr lang="en-US" sz="2800" dirty="0">
              <a:solidFill>
                <a:schemeClr val="bg1"/>
              </a:solidFill>
              <a:ea typeface="TT Hoves"/>
              <a:cs typeface="TT Hoves"/>
              <a:sym typeface="TT Hove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19200" y="3205595"/>
            <a:ext cx="5851319" cy="387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Time-based train/test split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22784" y="3644441"/>
            <a:ext cx="3953358" cy="1461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294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Random Forest </a:t>
            </a:r>
          </a:p>
          <a:p>
            <a:pPr marL="342900" indent="-342900" algn="l">
              <a:lnSpc>
                <a:spcPts val="294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Tuned Random Forest </a:t>
            </a:r>
          </a:p>
          <a:p>
            <a:pPr marL="342900" indent="-342900" algn="l">
              <a:lnSpc>
                <a:spcPts val="2940"/>
              </a:lnSpc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Feature </a:t>
            </a:r>
            <a:r>
              <a:rPr lang="en-US" sz="2800" dirty="0">
                <a:solidFill>
                  <a:srgbClr val="FFFFFF"/>
                </a:solidFill>
                <a:ea typeface="TT Hoves"/>
                <a:cs typeface="TT Hoves"/>
                <a:sym typeface="TT Hoves"/>
              </a:rPr>
              <a:t>importance</a:t>
            </a:r>
            <a:r>
              <a:rPr lang="en-US" sz="2100" dirty="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 Random Forest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82418" y="3026427"/>
            <a:ext cx="3953358" cy="38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Improved Model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20051" y="3787385"/>
            <a:ext cx="3953358" cy="1489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dirty="0">
                <a:solidFill>
                  <a:srgbClr val="FFFFFF"/>
                </a:solidFill>
                <a:ea typeface="TT Hoves"/>
                <a:cs typeface="TT Hoves"/>
                <a:sym typeface="TT Hoves"/>
              </a:rPr>
              <a:t>Logistics Regression model: simple and commonly use, easy to interpret and understand.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79685" y="3275654"/>
            <a:ext cx="3953358" cy="38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Baseline Model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48600" y="6962294"/>
            <a:ext cx="8258441" cy="1116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800" dirty="0">
                <a:solidFill>
                  <a:schemeClr val="bg1"/>
                </a:solidFill>
              </a:rPr>
              <a:t>Logistic Regression provides a simple baseline, while Random Forest is better suited for capturing the complex, non-linear patterns present in financial data.”</a:t>
            </a:r>
            <a:endParaRPr lang="en-US" sz="2800" dirty="0">
              <a:solidFill>
                <a:schemeClr val="bg1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848600" y="6274991"/>
            <a:ext cx="5001488" cy="387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Why we chose these two?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05128" y="510498"/>
            <a:ext cx="7434336" cy="806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Model Results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898024" y="509551"/>
            <a:ext cx="6624345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US" sz="3200" dirty="0">
                <a:solidFill>
                  <a:schemeClr val="bg1"/>
                </a:solidFill>
              </a:rPr>
              <a:t>A simple comparison table</a:t>
            </a:r>
            <a:endParaRPr lang="en-CA" sz="3200" dirty="0">
              <a:solidFill>
                <a:schemeClr val="bg1"/>
              </a:solidFill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699951" y="1317385"/>
            <a:ext cx="4964256" cy="3404989"/>
            <a:chOff x="0" y="0"/>
            <a:chExt cx="1083869" cy="7782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3869" cy="778284"/>
            </a:xfrm>
            <a:custGeom>
              <a:avLst/>
              <a:gdLst/>
              <a:ahLst/>
              <a:cxnLst/>
              <a:rect l="l" t="t" r="r" b="b"/>
              <a:pathLst>
                <a:path w="1083869" h="778284">
                  <a:moveTo>
                    <a:pt x="67725" y="0"/>
                  </a:moveTo>
                  <a:lnTo>
                    <a:pt x="1016144" y="0"/>
                  </a:lnTo>
                  <a:cubicBezTo>
                    <a:pt x="1034106" y="0"/>
                    <a:pt x="1051332" y="7135"/>
                    <a:pt x="1064033" y="19836"/>
                  </a:cubicBezTo>
                  <a:cubicBezTo>
                    <a:pt x="1076734" y="32537"/>
                    <a:pt x="1083869" y="49763"/>
                    <a:pt x="1083869" y="67725"/>
                  </a:cubicBezTo>
                  <a:lnTo>
                    <a:pt x="1083869" y="710559"/>
                  </a:lnTo>
                  <a:cubicBezTo>
                    <a:pt x="1083869" y="728521"/>
                    <a:pt x="1076734" y="745747"/>
                    <a:pt x="1064033" y="758448"/>
                  </a:cubicBezTo>
                  <a:cubicBezTo>
                    <a:pt x="1051332" y="771149"/>
                    <a:pt x="1034106" y="778284"/>
                    <a:pt x="1016144" y="778284"/>
                  </a:cubicBezTo>
                  <a:lnTo>
                    <a:pt x="67725" y="778284"/>
                  </a:lnTo>
                  <a:cubicBezTo>
                    <a:pt x="49763" y="778284"/>
                    <a:pt x="32537" y="771149"/>
                    <a:pt x="19836" y="758448"/>
                  </a:cubicBezTo>
                  <a:cubicBezTo>
                    <a:pt x="7135" y="745747"/>
                    <a:pt x="0" y="728521"/>
                    <a:pt x="0" y="710559"/>
                  </a:cubicBezTo>
                  <a:lnTo>
                    <a:pt x="0" y="67725"/>
                  </a:lnTo>
                  <a:cubicBezTo>
                    <a:pt x="0" y="49763"/>
                    <a:pt x="7135" y="32537"/>
                    <a:pt x="19836" y="19836"/>
                  </a:cubicBezTo>
                  <a:cubicBezTo>
                    <a:pt x="32537" y="7135"/>
                    <a:pt x="49763" y="0"/>
                    <a:pt x="677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BEC2C7">
                  <a:alpha val="28627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83869" cy="825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2344" y="1801399"/>
            <a:ext cx="1414536" cy="745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800" dirty="0">
                <a:solidFill>
                  <a:srgbClr val="FFFFFF"/>
                </a:solidFill>
                <a:ea typeface="TT Hoves"/>
                <a:cs typeface="TT Hoves"/>
                <a:sym typeface="TT Hoves"/>
              </a:rPr>
              <a:t>Accuracy</a:t>
            </a:r>
          </a:p>
          <a:p>
            <a:pPr algn="ctr">
              <a:lnSpc>
                <a:spcPts val="2940"/>
              </a:lnSpc>
            </a:pPr>
            <a:r>
              <a:rPr lang="en-US" sz="2800" dirty="0">
                <a:solidFill>
                  <a:srgbClr val="FFFFFF"/>
                </a:solidFill>
                <a:ea typeface="TT Hoves"/>
                <a:cs typeface="TT Hoves"/>
                <a:sym typeface="TT Hoves"/>
              </a:rPr>
              <a:t> 36%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98856" y="1407897"/>
            <a:ext cx="3025470" cy="38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Baseline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89228" y="4868938"/>
            <a:ext cx="4964256" cy="4390408"/>
            <a:chOff x="0" y="0"/>
            <a:chExt cx="1083869" cy="7782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83869" cy="778284"/>
            </a:xfrm>
            <a:custGeom>
              <a:avLst/>
              <a:gdLst/>
              <a:ahLst/>
              <a:cxnLst/>
              <a:rect l="l" t="t" r="r" b="b"/>
              <a:pathLst>
                <a:path w="1083869" h="778284">
                  <a:moveTo>
                    <a:pt x="67725" y="0"/>
                  </a:moveTo>
                  <a:lnTo>
                    <a:pt x="1016144" y="0"/>
                  </a:lnTo>
                  <a:cubicBezTo>
                    <a:pt x="1034106" y="0"/>
                    <a:pt x="1051332" y="7135"/>
                    <a:pt x="1064033" y="19836"/>
                  </a:cubicBezTo>
                  <a:cubicBezTo>
                    <a:pt x="1076734" y="32537"/>
                    <a:pt x="1083869" y="49763"/>
                    <a:pt x="1083869" y="67725"/>
                  </a:cubicBezTo>
                  <a:lnTo>
                    <a:pt x="1083869" y="710559"/>
                  </a:lnTo>
                  <a:cubicBezTo>
                    <a:pt x="1083869" y="728521"/>
                    <a:pt x="1076734" y="745747"/>
                    <a:pt x="1064033" y="758448"/>
                  </a:cubicBezTo>
                  <a:cubicBezTo>
                    <a:pt x="1051332" y="771149"/>
                    <a:pt x="1034106" y="778284"/>
                    <a:pt x="1016144" y="778284"/>
                  </a:cubicBezTo>
                  <a:lnTo>
                    <a:pt x="67725" y="778284"/>
                  </a:lnTo>
                  <a:cubicBezTo>
                    <a:pt x="49763" y="778284"/>
                    <a:pt x="32537" y="771149"/>
                    <a:pt x="19836" y="758448"/>
                  </a:cubicBezTo>
                  <a:cubicBezTo>
                    <a:pt x="7135" y="745747"/>
                    <a:pt x="0" y="728521"/>
                    <a:pt x="0" y="710559"/>
                  </a:cubicBezTo>
                  <a:lnTo>
                    <a:pt x="0" y="67725"/>
                  </a:lnTo>
                  <a:cubicBezTo>
                    <a:pt x="0" y="49763"/>
                    <a:pt x="7135" y="32537"/>
                    <a:pt x="19836" y="19836"/>
                  </a:cubicBezTo>
                  <a:cubicBezTo>
                    <a:pt x="32537" y="7135"/>
                    <a:pt x="49763" y="0"/>
                    <a:pt x="67725" y="0"/>
                  </a:cubicBezTo>
                  <a:close/>
                </a:path>
              </a:pathLst>
            </a:custGeom>
            <a:solidFill>
              <a:srgbClr val="33CD91">
                <a:alpha val="28627"/>
              </a:srgbClr>
            </a:solidFill>
            <a:ln w="47625" cap="rnd">
              <a:solidFill>
                <a:srgbClr val="BEC2C7">
                  <a:alpha val="28627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83869" cy="825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342140" y="1140004"/>
            <a:ext cx="3025470" cy="38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Random Forest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83645" y="1915774"/>
            <a:ext cx="3025470" cy="111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dirty="0">
                <a:solidFill>
                  <a:srgbClr val="FFFFFF"/>
                </a:solidFill>
                <a:latin typeface="+mj-lt"/>
                <a:ea typeface="TT Hoves"/>
                <a:cs typeface="TT Hoves"/>
                <a:sym typeface="TT Hoves"/>
              </a:rPr>
              <a:t>Accuracy: </a:t>
            </a:r>
          </a:p>
          <a:p>
            <a:pPr algn="l">
              <a:lnSpc>
                <a:spcPts val="2940"/>
              </a:lnSpc>
            </a:pPr>
            <a:r>
              <a:rPr lang="en-US" sz="2800" dirty="0">
                <a:solidFill>
                  <a:srgbClr val="FFFFFF"/>
                </a:solidFill>
                <a:latin typeface="+mj-lt"/>
                <a:ea typeface="TT Hoves"/>
                <a:cs typeface="TT Hoves"/>
                <a:sym typeface="TT Hoves"/>
              </a:rPr>
              <a:t>35% </a:t>
            </a:r>
          </a:p>
          <a:p>
            <a:pPr algn="l">
              <a:lnSpc>
                <a:spcPts val="2940"/>
              </a:lnSpc>
            </a:pPr>
            <a:endParaRPr lang="en-US" sz="2800" dirty="0">
              <a:solidFill>
                <a:srgbClr val="FFFFFF"/>
              </a:solidFill>
              <a:latin typeface="+mj-lt"/>
              <a:ea typeface="TT Hoves"/>
              <a:cs typeface="TT Hoves"/>
              <a:sym typeface="TT Hove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19079" y="5686451"/>
            <a:ext cx="1635125" cy="745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dirty="0">
                <a:solidFill>
                  <a:srgbClr val="FFFFFF"/>
                </a:solidFill>
                <a:latin typeface="+mj-lt"/>
                <a:ea typeface="TT Hoves"/>
                <a:cs typeface="TT Hoves"/>
                <a:sym typeface="TT Hoves"/>
              </a:rPr>
              <a:t>Accuracy </a:t>
            </a:r>
          </a:p>
          <a:p>
            <a:pPr algn="l">
              <a:lnSpc>
                <a:spcPts val="2940"/>
              </a:lnSpc>
            </a:pPr>
            <a:r>
              <a:rPr lang="en-US" sz="2800" dirty="0">
                <a:solidFill>
                  <a:srgbClr val="FFFFFF"/>
                </a:solidFill>
                <a:latin typeface="+mj-lt"/>
                <a:ea typeface="TT Hoves"/>
                <a:cs typeface="TT Hoves"/>
                <a:sym typeface="TT Hoves"/>
              </a:rPr>
              <a:t>37%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8276" y="4873351"/>
            <a:ext cx="3900309" cy="38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Tuned Random Forest </a:t>
            </a:r>
          </a:p>
        </p:txBody>
      </p:sp>
      <p:pic>
        <p:nvPicPr>
          <p:cNvPr id="24" name="Picture 23" descr="A graph of confusion matrix&#10;&#10;AI-generated content may be incorrect.">
            <a:extLst>
              <a:ext uri="{FF2B5EF4-FFF2-40B4-BE49-F238E27FC236}">
                <a16:creationId xmlns:a16="http://schemas.microsoft.com/office/drawing/2014/main" id="{39E5CF63-D4A6-6EE3-6A05-FE0E62D63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879" y="1905268"/>
            <a:ext cx="3168298" cy="2785492"/>
          </a:xfrm>
          <a:prstGeom prst="rect">
            <a:avLst/>
          </a:prstGeom>
        </p:spPr>
      </p:pic>
      <p:grpSp>
        <p:nvGrpSpPr>
          <p:cNvPr id="27" name="Group 10">
            <a:extLst>
              <a:ext uri="{FF2B5EF4-FFF2-40B4-BE49-F238E27FC236}">
                <a16:creationId xmlns:a16="http://schemas.microsoft.com/office/drawing/2014/main" id="{4465FBCF-A942-874A-76FB-905499564914}"/>
              </a:ext>
            </a:extLst>
          </p:cNvPr>
          <p:cNvGrpSpPr/>
          <p:nvPr/>
        </p:nvGrpSpPr>
        <p:grpSpPr>
          <a:xfrm>
            <a:off x="5758220" y="-45350"/>
            <a:ext cx="5745215" cy="9318132"/>
            <a:chOff x="-81088" y="-47625"/>
            <a:chExt cx="1164957" cy="1651818"/>
          </a:xfrm>
        </p:grpSpPr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A46697A-55EA-6F98-3838-3E5FB8AF3AD3}"/>
                </a:ext>
              </a:extLst>
            </p:cNvPr>
            <p:cNvSpPr/>
            <p:nvPr/>
          </p:nvSpPr>
          <p:spPr>
            <a:xfrm>
              <a:off x="-81088" y="825909"/>
              <a:ext cx="1083869" cy="778284"/>
            </a:xfrm>
            <a:custGeom>
              <a:avLst/>
              <a:gdLst/>
              <a:ahLst/>
              <a:cxnLst/>
              <a:rect l="l" t="t" r="r" b="b"/>
              <a:pathLst>
                <a:path w="1083869" h="778284">
                  <a:moveTo>
                    <a:pt x="67725" y="0"/>
                  </a:moveTo>
                  <a:lnTo>
                    <a:pt x="1016144" y="0"/>
                  </a:lnTo>
                  <a:cubicBezTo>
                    <a:pt x="1034106" y="0"/>
                    <a:pt x="1051332" y="7135"/>
                    <a:pt x="1064033" y="19836"/>
                  </a:cubicBezTo>
                  <a:cubicBezTo>
                    <a:pt x="1076734" y="32537"/>
                    <a:pt x="1083869" y="49763"/>
                    <a:pt x="1083869" y="67725"/>
                  </a:cubicBezTo>
                  <a:lnTo>
                    <a:pt x="1083869" y="710559"/>
                  </a:lnTo>
                  <a:cubicBezTo>
                    <a:pt x="1083869" y="728521"/>
                    <a:pt x="1076734" y="745747"/>
                    <a:pt x="1064033" y="758448"/>
                  </a:cubicBezTo>
                  <a:cubicBezTo>
                    <a:pt x="1051332" y="771149"/>
                    <a:pt x="1034106" y="778284"/>
                    <a:pt x="1016144" y="778284"/>
                  </a:cubicBezTo>
                  <a:lnTo>
                    <a:pt x="67725" y="778284"/>
                  </a:lnTo>
                  <a:cubicBezTo>
                    <a:pt x="49763" y="778284"/>
                    <a:pt x="32537" y="771149"/>
                    <a:pt x="19836" y="758448"/>
                  </a:cubicBezTo>
                  <a:cubicBezTo>
                    <a:pt x="7135" y="745747"/>
                    <a:pt x="0" y="728521"/>
                    <a:pt x="0" y="710559"/>
                  </a:cubicBezTo>
                  <a:lnTo>
                    <a:pt x="0" y="67725"/>
                  </a:lnTo>
                  <a:cubicBezTo>
                    <a:pt x="0" y="49763"/>
                    <a:pt x="7135" y="32537"/>
                    <a:pt x="19836" y="19836"/>
                  </a:cubicBezTo>
                  <a:cubicBezTo>
                    <a:pt x="32537" y="7135"/>
                    <a:pt x="49763" y="0"/>
                    <a:pt x="67725" y="0"/>
                  </a:cubicBezTo>
                  <a:close/>
                </a:path>
              </a:pathLst>
            </a:custGeom>
            <a:solidFill>
              <a:srgbClr val="33CD91">
                <a:alpha val="28627"/>
              </a:srgbClr>
            </a:solidFill>
            <a:ln w="47625" cap="rnd">
              <a:solidFill>
                <a:srgbClr val="BEC2C7">
                  <a:alpha val="28627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TextBox 12">
              <a:extLst>
                <a:ext uri="{FF2B5EF4-FFF2-40B4-BE49-F238E27FC236}">
                  <a16:creationId xmlns:a16="http://schemas.microsoft.com/office/drawing/2014/main" id="{09E2A841-D5AF-20D3-912B-2AB25B3E4905}"/>
                </a:ext>
              </a:extLst>
            </p:cNvPr>
            <p:cNvSpPr txBox="1"/>
            <p:nvPr/>
          </p:nvSpPr>
          <p:spPr>
            <a:xfrm>
              <a:off x="0" y="-47625"/>
              <a:ext cx="1083869" cy="825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1" name="Picture 30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23A47C12-A4B8-F670-9AB3-6C0FBF31F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9799" y="1357306"/>
            <a:ext cx="6572804" cy="6512819"/>
          </a:xfrm>
          <a:prstGeom prst="rect">
            <a:avLst/>
          </a:prstGeom>
        </p:spPr>
      </p:pic>
      <p:pic>
        <p:nvPicPr>
          <p:cNvPr id="33" name="Picture 32" descr="A diagram of a confused matrix&#10;&#10;AI-generated content may be incorrect.">
            <a:extLst>
              <a:ext uri="{FF2B5EF4-FFF2-40B4-BE49-F238E27FC236}">
                <a16:creationId xmlns:a16="http://schemas.microsoft.com/office/drawing/2014/main" id="{D5A50CE8-F5CA-F686-C18C-6D6DA8A0B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380" y="1626804"/>
            <a:ext cx="3768645" cy="2903721"/>
          </a:xfrm>
          <a:prstGeom prst="rect">
            <a:avLst/>
          </a:prstGeom>
        </p:spPr>
      </p:pic>
      <p:sp>
        <p:nvSpPr>
          <p:cNvPr id="34" name="TextBox 19">
            <a:extLst>
              <a:ext uri="{FF2B5EF4-FFF2-40B4-BE49-F238E27FC236}">
                <a16:creationId xmlns:a16="http://schemas.microsoft.com/office/drawing/2014/main" id="{317C9C7C-39D9-555B-BE80-4F78CBCE35D9}"/>
              </a:ext>
            </a:extLst>
          </p:cNvPr>
          <p:cNvSpPr txBox="1"/>
          <p:nvPr/>
        </p:nvSpPr>
        <p:spPr>
          <a:xfrm>
            <a:off x="6160310" y="5185088"/>
            <a:ext cx="4338024" cy="387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Feature Importance (10) </a:t>
            </a:r>
          </a:p>
        </p:txBody>
      </p:sp>
      <p:pic>
        <p:nvPicPr>
          <p:cNvPr id="36" name="Picture 35" descr="A diagram of a confusion matrix&#10;&#10;AI-generated content may be incorrect.">
            <a:extLst>
              <a:ext uri="{FF2B5EF4-FFF2-40B4-BE49-F238E27FC236}">
                <a16:creationId xmlns:a16="http://schemas.microsoft.com/office/drawing/2014/main" id="{5B11D97E-CED1-8909-865D-2FD1BD64B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7625" y="5352084"/>
            <a:ext cx="3767257" cy="3568847"/>
          </a:xfrm>
          <a:prstGeom prst="rect">
            <a:avLst/>
          </a:prstGeom>
        </p:spPr>
      </p:pic>
      <p:grpSp>
        <p:nvGrpSpPr>
          <p:cNvPr id="37" name="Group 5">
            <a:extLst>
              <a:ext uri="{FF2B5EF4-FFF2-40B4-BE49-F238E27FC236}">
                <a16:creationId xmlns:a16="http://schemas.microsoft.com/office/drawing/2014/main" id="{59A9BED6-0374-C6D7-7630-79A5FC10A683}"/>
              </a:ext>
            </a:extLst>
          </p:cNvPr>
          <p:cNvGrpSpPr/>
          <p:nvPr/>
        </p:nvGrpSpPr>
        <p:grpSpPr>
          <a:xfrm>
            <a:off x="6083645" y="658070"/>
            <a:ext cx="5061286" cy="3632891"/>
            <a:chOff x="-21185" y="-47625"/>
            <a:chExt cx="1105054" cy="830376"/>
          </a:xfrm>
        </p:grpSpPr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8F9DD63D-C003-A124-5DB1-5D11BFABF7AA}"/>
                </a:ext>
              </a:extLst>
            </p:cNvPr>
            <p:cNvSpPr/>
            <p:nvPr/>
          </p:nvSpPr>
          <p:spPr>
            <a:xfrm>
              <a:off x="-21185" y="4467"/>
              <a:ext cx="1083869" cy="778284"/>
            </a:xfrm>
            <a:custGeom>
              <a:avLst/>
              <a:gdLst/>
              <a:ahLst/>
              <a:cxnLst/>
              <a:rect l="l" t="t" r="r" b="b"/>
              <a:pathLst>
                <a:path w="1083869" h="778284">
                  <a:moveTo>
                    <a:pt x="67725" y="0"/>
                  </a:moveTo>
                  <a:lnTo>
                    <a:pt x="1016144" y="0"/>
                  </a:lnTo>
                  <a:cubicBezTo>
                    <a:pt x="1034106" y="0"/>
                    <a:pt x="1051332" y="7135"/>
                    <a:pt x="1064033" y="19836"/>
                  </a:cubicBezTo>
                  <a:cubicBezTo>
                    <a:pt x="1076734" y="32537"/>
                    <a:pt x="1083869" y="49763"/>
                    <a:pt x="1083869" y="67725"/>
                  </a:cubicBezTo>
                  <a:lnTo>
                    <a:pt x="1083869" y="710559"/>
                  </a:lnTo>
                  <a:cubicBezTo>
                    <a:pt x="1083869" y="728521"/>
                    <a:pt x="1076734" y="745747"/>
                    <a:pt x="1064033" y="758448"/>
                  </a:cubicBezTo>
                  <a:cubicBezTo>
                    <a:pt x="1051332" y="771149"/>
                    <a:pt x="1034106" y="778284"/>
                    <a:pt x="1016144" y="778284"/>
                  </a:cubicBezTo>
                  <a:lnTo>
                    <a:pt x="67725" y="778284"/>
                  </a:lnTo>
                  <a:cubicBezTo>
                    <a:pt x="49763" y="778284"/>
                    <a:pt x="32537" y="771149"/>
                    <a:pt x="19836" y="758448"/>
                  </a:cubicBezTo>
                  <a:cubicBezTo>
                    <a:pt x="7135" y="745747"/>
                    <a:pt x="0" y="728521"/>
                    <a:pt x="0" y="710559"/>
                  </a:cubicBezTo>
                  <a:lnTo>
                    <a:pt x="0" y="67725"/>
                  </a:lnTo>
                  <a:cubicBezTo>
                    <a:pt x="0" y="49763"/>
                    <a:pt x="7135" y="32537"/>
                    <a:pt x="19836" y="19836"/>
                  </a:cubicBezTo>
                  <a:cubicBezTo>
                    <a:pt x="32537" y="7135"/>
                    <a:pt x="49763" y="0"/>
                    <a:pt x="6772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rnd">
              <a:solidFill>
                <a:srgbClr val="BEC2C7">
                  <a:alpha val="28627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9" name="TextBox 7">
              <a:extLst>
                <a:ext uri="{FF2B5EF4-FFF2-40B4-BE49-F238E27FC236}">
                  <a16:creationId xmlns:a16="http://schemas.microsoft.com/office/drawing/2014/main" id="{1F2094B2-AEE8-C049-CB24-C4E27B92DFE9}"/>
                </a:ext>
              </a:extLst>
            </p:cNvPr>
            <p:cNvSpPr txBox="1"/>
            <p:nvPr/>
          </p:nvSpPr>
          <p:spPr>
            <a:xfrm>
              <a:off x="0" y="-47625"/>
              <a:ext cx="1083869" cy="825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1" name="Picture 40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7D4D02F1-8950-6A99-AE93-41864EAE8A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944" y="5686451"/>
            <a:ext cx="5059287" cy="32344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74548" y="2956391"/>
            <a:ext cx="4802328" cy="796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dirty="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Final Insight </a:t>
            </a:r>
          </a:p>
        </p:txBody>
      </p:sp>
      <p:sp>
        <p:nvSpPr>
          <p:cNvPr id="7" name="Freeform 7"/>
          <p:cNvSpPr/>
          <p:nvPr/>
        </p:nvSpPr>
        <p:spPr>
          <a:xfrm rot="-507067">
            <a:off x="9529550" y="1648942"/>
            <a:ext cx="7042553" cy="7042553"/>
          </a:xfrm>
          <a:custGeom>
            <a:avLst/>
            <a:gdLst/>
            <a:ahLst/>
            <a:cxnLst/>
            <a:rect l="l" t="t" r="r" b="b"/>
            <a:pathLst>
              <a:path w="7042553" h="7042553">
                <a:moveTo>
                  <a:pt x="0" y="0"/>
                </a:moveTo>
                <a:lnTo>
                  <a:pt x="7042553" y="0"/>
                </a:lnTo>
                <a:lnTo>
                  <a:pt x="7042553" y="7042553"/>
                </a:lnTo>
                <a:lnTo>
                  <a:pt x="0" y="7042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8" name="Group 8"/>
          <p:cNvGrpSpPr/>
          <p:nvPr/>
        </p:nvGrpSpPr>
        <p:grpSpPr>
          <a:xfrm>
            <a:off x="7994911" y="2773979"/>
            <a:ext cx="4732554" cy="1849978"/>
            <a:chOff x="0" y="0"/>
            <a:chExt cx="1138807" cy="4872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8807" cy="487237"/>
            </a:xfrm>
            <a:custGeom>
              <a:avLst/>
              <a:gdLst/>
              <a:ahLst/>
              <a:cxnLst/>
              <a:rect l="l" t="t" r="r" b="b"/>
              <a:pathLst>
                <a:path w="1138807" h="487237">
                  <a:moveTo>
                    <a:pt x="64458" y="0"/>
                  </a:moveTo>
                  <a:lnTo>
                    <a:pt x="1074350" y="0"/>
                  </a:lnTo>
                  <a:cubicBezTo>
                    <a:pt x="1109949" y="0"/>
                    <a:pt x="1138807" y="28859"/>
                    <a:pt x="1138807" y="64458"/>
                  </a:cubicBezTo>
                  <a:lnTo>
                    <a:pt x="1138807" y="422779"/>
                  </a:lnTo>
                  <a:cubicBezTo>
                    <a:pt x="1138807" y="458378"/>
                    <a:pt x="1109949" y="487237"/>
                    <a:pt x="1074350" y="487237"/>
                  </a:cubicBezTo>
                  <a:lnTo>
                    <a:pt x="64458" y="487237"/>
                  </a:lnTo>
                  <a:cubicBezTo>
                    <a:pt x="47362" y="487237"/>
                    <a:pt x="30967" y="480446"/>
                    <a:pt x="18879" y="468358"/>
                  </a:cubicBezTo>
                  <a:cubicBezTo>
                    <a:pt x="6791" y="456270"/>
                    <a:pt x="0" y="439875"/>
                    <a:pt x="0" y="422779"/>
                  </a:cubicBezTo>
                  <a:lnTo>
                    <a:pt x="0" y="64458"/>
                  </a:lnTo>
                  <a:cubicBezTo>
                    <a:pt x="0" y="28859"/>
                    <a:pt x="28859" y="0"/>
                    <a:pt x="64458" y="0"/>
                  </a:cubicBezTo>
                  <a:close/>
                </a:path>
              </a:pathLst>
            </a:custGeom>
            <a:solidFill>
              <a:srgbClr val="141A1F">
                <a:alpha val="57647"/>
              </a:srgbClr>
            </a:solidFill>
            <a:ln w="47625" cap="rnd">
              <a:solidFill>
                <a:srgbClr val="BEC2C7">
                  <a:alpha val="57647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 sz="32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138807" cy="534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sz="32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305800" y="3354802"/>
            <a:ext cx="4013019" cy="1117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800" dirty="0">
                <a:solidFill>
                  <a:srgbClr val="00B050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+mj-lt"/>
              </a:rPr>
              <a:t>Market is noisy → low accuracy expected</a:t>
            </a:r>
          </a:p>
          <a:p>
            <a:pPr algn="ctr">
              <a:lnSpc>
                <a:spcPts val="2940"/>
              </a:lnSpc>
            </a:pPr>
            <a:endParaRPr lang="en-US" sz="2800" dirty="0">
              <a:solidFill>
                <a:srgbClr val="00B050"/>
              </a:solidFill>
              <a:latin typeface="+mj-lt"/>
              <a:ea typeface="TT Hoves"/>
              <a:cs typeface="TT Hoves"/>
              <a:sym typeface="TT Hove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3782833" y="3913544"/>
            <a:ext cx="4323909" cy="1849978"/>
            <a:chOff x="0" y="0"/>
            <a:chExt cx="1138807" cy="4872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38807" cy="487237"/>
            </a:xfrm>
            <a:custGeom>
              <a:avLst/>
              <a:gdLst/>
              <a:ahLst/>
              <a:cxnLst/>
              <a:rect l="l" t="t" r="r" b="b"/>
              <a:pathLst>
                <a:path w="1138807" h="487237">
                  <a:moveTo>
                    <a:pt x="64458" y="0"/>
                  </a:moveTo>
                  <a:lnTo>
                    <a:pt x="1074350" y="0"/>
                  </a:lnTo>
                  <a:cubicBezTo>
                    <a:pt x="1109949" y="0"/>
                    <a:pt x="1138807" y="28859"/>
                    <a:pt x="1138807" y="64458"/>
                  </a:cubicBezTo>
                  <a:lnTo>
                    <a:pt x="1138807" y="422779"/>
                  </a:lnTo>
                  <a:cubicBezTo>
                    <a:pt x="1138807" y="458378"/>
                    <a:pt x="1109949" y="487237"/>
                    <a:pt x="1074350" y="487237"/>
                  </a:cubicBezTo>
                  <a:lnTo>
                    <a:pt x="64458" y="487237"/>
                  </a:lnTo>
                  <a:cubicBezTo>
                    <a:pt x="47362" y="487237"/>
                    <a:pt x="30967" y="480446"/>
                    <a:pt x="18879" y="468358"/>
                  </a:cubicBezTo>
                  <a:cubicBezTo>
                    <a:pt x="6791" y="456270"/>
                    <a:pt x="0" y="439875"/>
                    <a:pt x="0" y="422779"/>
                  </a:cubicBezTo>
                  <a:lnTo>
                    <a:pt x="0" y="64458"/>
                  </a:lnTo>
                  <a:cubicBezTo>
                    <a:pt x="0" y="28859"/>
                    <a:pt x="28859" y="0"/>
                    <a:pt x="64458" y="0"/>
                  </a:cubicBezTo>
                  <a:close/>
                </a:path>
              </a:pathLst>
            </a:custGeom>
            <a:solidFill>
              <a:srgbClr val="141A1F">
                <a:alpha val="57647"/>
              </a:srgbClr>
            </a:solidFill>
            <a:ln w="47625" cap="rnd">
              <a:solidFill>
                <a:srgbClr val="BEC2C7">
                  <a:alpha val="57647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138807" cy="534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535359" y="4426783"/>
            <a:ext cx="3901798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Indicators lag price → turning points missed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422608" y="6930752"/>
            <a:ext cx="5350792" cy="1849978"/>
            <a:chOff x="0" y="0"/>
            <a:chExt cx="1138807" cy="48723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8807" cy="487237"/>
            </a:xfrm>
            <a:custGeom>
              <a:avLst/>
              <a:gdLst/>
              <a:ahLst/>
              <a:cxnLst/>
              <a:rect l="l" t="t" r="r" b="b"/>
              <a:pathLst>
                <a:path w="1138807" h="487237">
                  <a:moveTo>
                    <a:pt x="64458" y="0"/>
                  </a:moveTo>
                  <a:lnTo>
                    <a:pt x="1074350" y="0"/>
                  </a:lnTo>
                  <a:cubicBezTo>
                    <a:pt x="1109949" y="0"/>
                    <a:pt x="1138807" y="28859"/>
                    <a:pt x="1138807" y="64458"/>
                  </a:cubicBezTo>
                  <a:lnTo>
                    <a:pt x="1138807" y="422779"/>
                  </a:lnTo>
                  <a:cubicBezTo>
                    <a:pt x="1138807" y="458378"/>
                    <a:pt x="1109949" y="487237"/>
                    <a:pt x="1074350" y="487237"/>
                  </a:cubicBezTo>
                  <a:lnTo>
                    <a:pt x="64458" y="487237"/>
                  </a:lnTo>
                  <a:cubicBezTo>
                    <a:pt x="47362" y="487237"/>
                    <a:pt x="30967" y="480446"/>
                    <a:pt x="18879" y="468358"/>
                  </a:cubicBezTo>
                  <a:cubicBezTo>
                    <a:pt x="6791" y="456270"/>
                    <a:pt x="0" y="439875"/>
                    <a:pt x="0" y="422779"/>
                  </a:cubicBezTo>
                  <a:lnTo>
                    <a:pt x="0" y="64458"/>
                  </a:lnTo>
                  <a:cubicBezTo>
                    <a:pt x="0" y="28859"/>
                    <a:pt x="28859" y="0"/>
                    <a:pt x="64458" y="0"/>
                  </a:cubicBezTo>
                  <a:close/>
                </a:path>
              </a:pathLst>
            </a:custGeom>
            <a:solidFill>
              <a:srgbClr val="141A1F">
                <a:alpha val="57647"/>
              </a:srgbClr>
            </a:solidFill>
            <a:ln w="47625" cap="rnd">
              <a:solidFill>
                <a:srgbClr val="BEC2C7">
                  <a:alpha val="57647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138807" cy="534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690644" y="7187004"/>
            <a:ext cx="5562600" cy="1638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Random Forest performs better</a:t>
            </a:r>
          </a:p>
          <a:p>
            <a:r>
              <a:rPr lang="en-US" sz="2800" dirty="0">
                <a:solidFill>
                  <a:srgbClr val="00B050"/>
                </a:solidFill>
              </a:rPr>
              <a:t>Model supports signals, not trading decisions</a:t>
            </a:r>
          </a:p>
          <a:p>
            <a:pPr algn="ctr">
              <a:lnSpc>
                <a:spcPts val="2940"/>
              </a:lnSpc>
            </a:pPr>
            <a:endParaRPr lang="en-US" sz="2100" dirty="0">
              <a:solidFill>
                <a:srgbClr val="75FF82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870288" y="6286103"/>
            <a:ext cx="5733170" cy="2474361"/>
            <a:chOff x="0" y="0"/>
            <a:chExt cx="1509971" cy="6516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09971" cy="651684"/>
            </a:xfrm>
            <a:custGeom>
              <a:avLst/>
              <a:gdLst/>
              <a:ahLst/>
              <a:cxnLst/>
              <a:rect l="l" t="t" r="r" b="b"/>
              <a:pathLst>
                <a:path w="1509971" h="651684">
                  <a:moveTo>
                    <a:pt x="48613" y="0"/>
                  </a:moveTo>
                  <a:lnTo>
                    <a:pt x="1461357" y="0"/>
                  </a:lnTo>
                  <a:cubicBezTo>
                    <a:pt x="1474250" y="0"/>
                    <a:pt x="1486615" y="5122"/>
                    <a:pt x="1495732" y="14239"/>
                  </a:cubicBezTo>
                  <a:cubicBezTo>
                    <a:pt x="1504849" y="23355"/>
                    <a:pt x="1509971" y="35720"/>
                    <a:pt x="1509971" y="48613"/>
                  </a:cubicBezTo>
                  <a:lnTo>
                    <a:pt x="1509971" y="603070"/>
                  </a:lnTo>
                  <a:cubicBezTo>
                    <a:pt x="1509971" y="615963"/>
                    <a:pt x="1504849" y="628328"/>
                    <a:pt x="1495732" y="637445"/>
                  </a:cubicBezTo>
                  <a:cubicBezTo>
                    <a:pt x="1486615" y="646562"/>
                    <a:pt x="1474250" y="651684"/>
                    <a:pt x="1461357" y="651684"/>
                  </a:cubicBezTo>
                  <a:lnTo>
                    <a:pt x="48613" y="651684"/>
                  </a:lnTo>
                  <a:cubicBezTo>
                    <a:pt x="21765" y="651684"/>
                    <a:pt x="0" y="629919"/>
                    <a:pt x="0" y="603070"/>
                  </a:cubicBezTo>
                  <a:lnTo>
                    <a:pt x="0" y="48613"/>
                  </a:lnTo>
                  <a:cubicBezTo>
                    <a:pt x="0" y="35720"/>
                    <a:pt x="5122" y="23355"/>
                    <a:pt x="14239" y="14239"/>
                  </a:cubicBezTo>
                  <a:cubicBezTo>
                    <a:pt x="23355" y="5122"/>
                    <a:pt x="35720" y="0"/>
                    <a:pt x="48613" y="0"/>
                  </a:cubicBezTo>
                  <a:close/>
                </a:path>
              </a:pathLst>
            </a:custGeom>
            <a:solidFill>
              <a:srgbClr val="33CD91">
                <a:alpha val="28627"/>
              </a:srgbClr>
            </a:solidFill>
            <a:ln w="47625" cap="rnd">
              <a:solidFill>
                <a:srgbClr val="BEC2C7">
                  <a:alpha val="28627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509971" cy="6993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6633006"/>
            <a:ext cx="5574758" cy="1822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These results are realistic for financial markets and should be used as decision support rather than a trading engine.</a:t>
            </a: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00B05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618944" y="6384166"/>
            <a:ext cx="185797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Summary: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16650" y="643862"/>
            <a:ext cx="9938959" cy="8999275"/>
          </a:xfrm>
          <a:custGeom>
            <a:avLst/>
            <a:gdLst/>
            <a:ahLst/>
            <a:cxnLst/>
            <a:rect l="l" t="t" r="r" b="b"/>
            <a:pathLst>
              <a:path w="9938959" h="8999275">
                <a:moveTo>
                  <a:pt x="0" y="0"/>
                </a:moveTo>
                <a:lnTo>
                  <a:pt x="9938959" y="0"/>
                </a:lnTo>
                <a:lnTo>
                  <a:pt x="9938959" y="8999276"/>
                </a:lnTo>
                <a:lnTo>
                  <a:pt x="0" y="899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4174609" y="1028700"/>
            <a:ext cx="762000" cy="640080"/>
          </a:xfrm>
          <a:custGeom>
            <a:avLst/>
            <a:gdLst/>
            <a:ahLst/>
            <a:cxnLst/>
            <a:rect l="l" t="t" r="r" b="b"/>
            <a:pathLst>
              <a:path w="762000" h="64008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4" name="Group 4"/>
          <p:cNvGrpSpPr/>
          <p:nvPr/>
        </p:nvGrpSpPr>
        <p:grpSpPr>
          <a:xfrm>
            <a:off x="1222483" y="3076383"/>
            <a:ext cx="4911591" cy="3664452"/>
            <a:chOff x="0" y="0"/>
            <a:chExt cx="1293588" cy="9651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93588" cy="965123"/>
            </a:xfrm>
            <a:custGeom>
              <a:avLst/>
              <a:gdLst/>
              <a:ahLst/>
              <a:cxnLst/>
              <a:rect l="l" t="t" r="r" b="b"/>
              <a:pathLst>
                <a:path w="1293588" h="965123">
                  <a:moveTo>
                    <a:pt x="36254" y="0"/>
                  </a:moveTo>
                  <a:lnTo>
                    <a:pt x="1257334" y="0"/>
                  </a:lnTo>
                  <a:cubicBezTo>
                    <a:pt x="1277356" y="0"/>
                    <a:pt x="1293588" y="16231"/>
                    <a:pt x="1293588" y="36254"/>
                  </a:cubicBezTo>
                  <a:lnTo>
                    <a:pt x="1293588" y="928869"/>
                  </a:lnTo>
                  <a:cubicBezTo>
                    <a:pt x="1293588" y="938484"/>
                    <a:pt x="1289768" y="947706"/>
                    <a:pt x="1282969" y="954505"/>
                  </a:cubicBezTo>
                  <a:cubicBezTo>
                    <a:pt x="1276170" y="961303"/>
                    <a:pt x="1266949" y="965123"/>
                    <a:pt x="1257334" y="965123"/>
                  </a:cubicBezTo>
                  <a:lnTo>
                    <a:pt x="36254" y="965123"/>
                  </a:lnTo>
                  <a:cubicBezTo>
                    <a:pt x="26639" y="965123"/>
                    <a:pt x="17417" y="961303"/>
                    <a:pt x="10619" y="954505"/>
                  </a:cubicBezTo>
                  <a:cubicBezTo>
                    <a:pt x="3820" y="947706"/>
                    <a:pt x="0" y="938484"/>
                    <a:pt x="0" y="928869"/>
                  </a:cubicBezTo>
                  <a:lnTo>
                    <a:pt x="0" y="36254"/>
                  </a:lnTo>
                  <a:cubicBezTo>
                    <a:pt x="0" y="26639"/>
                    <a:pt x="3820" y="17417"/>
                    <a:pt x="10619" y="10619"/>
                  </a:cubicBezTo>
                  <a:cubicBezTo>
                    <a:pt x="17417" y="3820"/>
                    <a:pt x="26639" y="0"/>
                    <a:pt x="36254" y="0"/>
                  </a:cubicBezTo>
                  <a:close/>
                </a:path>
              </a:pathLst>
            </a:custGeom>
            <a:solidFill>
              <a:srgbClr val="141A1F">
                <a:alpha val="81961"/>
              </a:srgbClr>
            </a:solidFill>
            <a:ln w="47625" cap="rnd">
              <a:solidFill>
                <a:srgbClr val="BEC2C7">
                  <a:alpha val="8196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293588" cy="1012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35251" y="1402080"/>
            <a:ext cx="7083553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dirty="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Limitations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26586" y="3422046"/>
            <a:ext cx="4370265" cy="387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2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Macroeconomic Data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35251" y="6921661"/>
            <a:ext cx="4911591" cy="2336639"/>
            <a:chOff x="0" y="0"/>
            <a:chExt cx="1293588" cy="6154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93588" cy="615411"/>
            </a:xfrm>
            <a:custGeom>
              <a:avLst/>
              <a:gdLst/>
              <a:ahLst/>
              <a:cxnLst/>
              <a:rect l="l" t="t" r="r" b="b"/>
              <a:pathLst>
                <a:path w="1293588" h="615411">
                  <a:moveTo>
                    <a:pt x="36254" y="0"/>
                  </a:moveTo>
                  <a:lnTo>
                    <a:pt x="1257334" y="0"/>
                  </a:lnTo>
                  <a:cubicBezTo>
                    <a:pt x="1277356" y="0"/>
                    <a:pt x="1293588" y="16231"/>
                    <a:pt x="1293588" y="36254"/>
                  </a:cubicBezTo>
                  <a:lnTo>
                    <a:pt x="1293588" y="579157"/>
                  </a:lnTo>
                  <a:cubicBezTo>
                    <a:pt x="1293588" y="588772"/>
                    <a:pt x="1289768" y="597994"/>
                    <a:pt x="1282969" y="604793"/>
                  </a:cubicBezTo>
                  <a:cubicBezTo>
                    <a:pt x="1276170" y="611592"/>
                    <a:pt x="1266949" y="615411"/>
                    <a:pt x="1257334" y="615411"/>
                  </a:cubicBezTo>
                  <a:lnTo>
                    <a:pt x="36254" y="615411"/>
                  </a:lnTo>
                  <a:cubicBezTo>
                    <a:pt x="26639" y="615411"/>
                    <a:pt x="17417" y="611592"/>
                    <a:pt x="10619" y="604793"/>
                  </a:cubicBezTo>
                  <a:cubicBezTo>
                    <a:pt x="3820" y="597994"/>
                    <a:pt x="0" y="588772"/>
                    <a:pt x="0" y="579157"/>
                  </a:cubicBezTo>
                  <a:lnTo>
                    <a:pt x="0" y="36254"/>
                  </a:lnTo>
                  <a:cubicBezTo>
                    <a:pt x="0" y="26639"/>
                    <a:pt x="3820" y="17417"/>
                    <a:pt x="10619" y="10619"/>
                  </a:cubicBezTo>
                  <a:cubicBezTo>
                    <a:pt x="17417" y="3820"/>
                    <a:pt x="26639" y="0"/>
                    <a:pt x="36254" y="0"/>
                  </a:cubicBezTo>
                  <a:close/>
                </a:path>
              </a:pathLst>
            </a:custGeom>
            <a:solidFill>
              <a:srgbClr val="141A1F">
                <a:alpha val="81961"/>
              </a:srgbClr>
            </a:solidFill>
            <a:ln w="47625" cap="rnd">
              <a:solidFill>
                <a:srgbClr val="BEC2C7">
                  <a:alpha val="8196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293588" cy="663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38624" y="3031702"/>
            <a:ext cx="4911591" cy="3664452"/>
            <a:chOff x="0" y="0"/>
            <a:chExt cx="1293588" cy="96512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93588" cy="965123"/>
            </a:xfrm>
            <a:custGeom>
              <a:avLst/>
              <a:gdLst/>
              <a:ahLst/>
              <a:cxnLst/>
              <a:rect l="l" t="t" r="r" b="b"/>
              <a:pathLst>
                <a:path w="1293588" h="965123">
                  <a:moveTo>
                    <a:pt x="36254" y="0"/>
                  </a:moveTo>
                  <a:lnTo>
                    <a:pt x="1257334" y="0"/>
                  </a:lnTo>
                  <a:cubicBezTo>
                    <a:pt x="1277356" y="0"/>
                    <a:pt x="1293588" y="16231"/>
                    <a:pt x="1293588" y="36254"/>
                  </a:cubicBezTo>
                  <a:lnTo>
                    <a:pt x="1293588" y="928869"/>
                  </a:lnTo>
                  <a:cubicBezTo>
                    <a:pt x="1293588" y="938484"/>
                    <a:pt x="1289768" y="947706"/>
                    <a:pt x="1282969" y="954505"/>
                  </a:cubicBezTo>
                  <a:cubicBezTo>
                    <a:pt x="1276170" y="961303"/>
                    <a:pt x="1266949" y="965123"/>
                    <a:pt x="1257334" y="965123"/>
                  </a:cubicBezTo>
                  <a:lnTo>
                    <a:pt x="36254" y="965123"/>
                  </a:lnTo>
                  <a:cubicBezTo>
                    <a:pt x="26639" y="965123"/>
                    <a:pt x="17417" y="961303"/>
                    <a:pt x="10619" y="954505"/>
                  </a:cubicBezTo>
                  <a:cubicBezTo>
                    <a:pt x="3820" y="947706"/>
                    <a:pt x="0" y="938484"/>
                    <a:pt x="0" y="928869"/>
                  </a:cubicBezTo>
                  <a:lnTo>
                    <a:pt x="0" y="36254"/>
                  </a:lnTo>
                  <a:cubicBezTo>
                    <a:pt x="0" y="26639"/>
                    <a:pt x="3820" y="17417"/>
                    <a:pt x="10619" y="10619"/>
                  </a:cubicBezTo>
                  <a:cubicBezTo>
                    <a:pt x="17417" y="3820"/>
                    <a:pt x="26639" y="0"/>
                    <a:pt x="36254" y="0"/>
                  </a:cubicBezTo>
                  <a:close/>
                </a:path>
              </a:pathLst>
            </a:custGeom>
            <a:solidFill>
              <a:srgbClr val="141A1F">
                <a:alpha val="81961"/>
              </a:srgbClr>
            </a:solidFill>
            <a:ln w="47625" cap="rnd">
              <a:solidFill>
                <a:srgbClr val="BEC2C7">
                  <a:alpha val="8196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293588" cy="1012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124941" y="4109531"/>
            <a:ext cx="4200261" cy="2233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800" dirty="0">
                <a:solidFill>
                  <a:schemeClr val="bg1"/>
                </a:solidFill>
              </a:rPr>
              <a:t>Investor sentiment from news and social media is excluded, limiting the model’s ability to capture market psychology and sudden reactions.</a:t>
            </a:r>
            <a:endParaRPr lang="en-US" sz="2800" dirty="0">
              <a:solidFill>
                <a:schemeClr val="bg1"/>
              </a:solidFill>
              <a:ea typeface="TT Hoves"/>
              <a:cs typeface="TT Hoves"/>
              <a:sym typeface="TT Hove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371844" y="3469073"/>
            <a:ext cx="3953358" cy="373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No Sentiment Analysis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688204" y="6921661"/>
            <a:ext cx="4911591" cy="2336639"/>
            <a:chOff x="0" y="0"/>
            <a:chExt cx="1293588" cy="61541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93588" cy="615411"/>
            </a:xfrm>
            <a:custGeom>
              <a:avLst/>
              <a:gdLst/>
              <a:ahLst/>
              <a:cxnLst/>
              <a:rect l="l" t="t" r="r" b="b"/>
              <a:pathLst>
                <a:path w="1293588" h="615411">
                  <a:moveTo>
                    <a:pt x="36254" y="0"/>
                  </a:moveTo>
                  <a:lnTo>
                    <a:pt x="1257334" y="0"/>
                  </a:lnTo>
                  <a:cubicBezTo>
                    <a:pt x="1277356" y="0"/>
                    <a:pt x="1293588" y="16231"/>
                    <a:pt x="1293588" y="36254"/>
                  </a:cubicBezTo>
                  <a:lnTo>
                    <a:pt x="1293588" y="579157"/>
                  </a:lnTo>
                  <a:cubicBezTo>
                    <a:pt x="1293588" y="588772"/>
                    <a:pt x="1289768" y="597994"/>
                    <a:pt x="1282969" y="604793"/>
                  </a:cubicBezTo>
                  <a:cubicBezTo>
                    <a:pt x="1276170" y="611592"/>
                    <a:pt x="1266949" y="615411"/>
                    <a:pt x="1257334" y="615411"/>
                  </a:cubicBezTo>
                  <a:lnTo>
                    <a:pt x="36254" y="615411"/>
                  </a:lnTo>
                  <a:cubicBezTo>
                    <a:pt x="26639" y="615411"/>
                    <a:pt x="17417" y="611592"/>
                    <a:pt x="10619" y="604793"/>
                  </a:cubicBezTo>
                  <a:cubicBezTo>
                    <a:pt x="3820" y="597994"/>
                    <a:pt x="0" y="588772"/>
                    <a:pt x="0" y="579157"/>
                  </a:cubicBezTo>
                  <a:lnTo>
                    <a:pt x="0" y="36254"/>
                  </a:lnTo>
                  <a:cubicBezTo>
                    <a:pt x="0" y="26639"/>
                    <a:pt x="3820" y="17417"/>
                    <a:pt x="10619" y="10619"/>
                  </a:cubicBezTo>
                  <a:cubicBezTo>
                    <a:pt x="17417" y="3820"/>
                    <a:pt x="26639" y="0"/>
                    <a:pt x="36254" y="0"/>
                  </a:cubicBezTo>
                  <a:close/>
                </a:path>
              </a:pathLst>
            </a:custGeom>
            <a:solidFill>
              <a:srgbClr val="141A1F">
                <a:alpha val="81961"/>
              </a:srgbClr>
            </a:solidFill>
            <a:ln w="47625" cap="rnd">
              <a:solidFill>
                <a:srgbClr val="BEC2C7">
                  <a:alpha val="8196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293588" cy="663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350086" y="7630102"/>
            <a:ext cx="4211610" cy="111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800" dirty="0">
                <a:solidFill>
                  <a:schemeClr val="bg1"/>
                </a:solidFill>
                <a:latin typeface="+mj-lt"/>
              </a:rPr>
              <a:t>Predicting trends over a short time window makes it harder to identify,</a:t>
            </a:r>
            <a:endParaRPr lang="en-US" sz="2800" dirty="0">
              <a:solidFill>
                <a:schemeClr val="bg1"/>
              </a:solidFill>
              <a:latin typeface="+mj-lt"/>
              <a:ea typeface="TT Hoves"/>
              <a:cs typeface="TT Hoves"/>
              <a:sym typeface="TT Hoves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1765992" y="2985970"/>
            <a:ext cx="4911591" cy="3664452"/>
            <a:chOff x="0" y="0"/>
            <a:chExt cx="1293588" cy="96512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93588" cy="965123"/>
            </a:xfrm>
            <a:custGeom>
              <a:avLst/>
              <a:gdLst/>
              <a:ahLst/>
              <a:cxnLst/>
              <a:rect l="l" t="t" r="r" b="b"/>
              <a:pathLst>
                <a:path w="1293588" h="965123">
                  <a:moveTo>
                    <a:pt x="36254" y="0"/>
                  </a:moveTo>
                  <a:lnTo>
                    <a:pt x="1257334" y="0"/>
                  </a:lnTo>
                  <a:cubicBezTo>
                    <a:pt x="1277356" y="0"/>
                    <a:pt x="1293588" y="16231"/>
                    <a:pt x="1293588" y="36254"/>
                  </a:cubicBezTo>
                  <a:lnTo>
                    <a:pt x="1293588" y="928869"/>
                  </a:lnTo>
                  <a:cubicBezTo>
                    <a:pt x="1293588" y="938484"/>
                    <a:pt x="1289768" y="947706"/>
                    <a:pt x="1282969" y="954505"/>
                  </a:cubicBezTo>
                  <a:cubicBezTo>
                    <a:pt x="1276170" y="961303"/>
                    <a:pt x="1266949" y="965123"/>
                    <a:pt x="1257334" y="965123"/>
                  </a:cubicBezTo>
                  <a:lnTo>
                    <a:pt x="36254" y="965123"/>
                  </a:lnTo>
                  <a:cubicBezTo>
                    <a:pt x="26639" y="965123"/>
                    <a:pt x="17417" y="961303"/>
                    <a:pt x="10619" y="954505"/>
                  </a:cubicBezTo>
                  <a:cubicBezTo>
                    <a:pt x="3820" y="947706"/>
                    <a:pt x="0" y="938484"/>
                    <a:pt x="0" y="928869"/>
                  </a:cubicBezTo>
                  <a:lnTo>
                    <a:pt x="0" y="36254"/>
                  </a:lnTo>
                  <a:cubicBezTo>
                    <a:pt x="0" y="26639"/>
                    <a:pt x="3820" y="17417"/>
                    <a:pt x="10619" y="10619"/>
                  </a:cubicBezTo>
                  <a:cubicBezTo>
                    <a:pt x="17417" y="3820"/>
                    <a:pt x="26639" y="0"/>
                    <a:pt x="36254" y="0"/>
                  </a:cubicBezTo>
                  <a:close/>
                </a:path>
              </a:pathLst>
            </a:custGeom>
            <a:solidFill>
              <a:srgbClr val="141A1F">
                <a:alpha val="81961"/>
              </a:srgbClr>
            </a:solidFill>
            <a:ln w="47625" cap="rnd">
              <a:solidFill>
                <a:srgbClr val="BEC2C7">
                  <a:alpha val="8196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293588" cy="1012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292686" y="3878596"/>
            <a:ext cx="3953358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400" dirty="0">
                <a:solidFill>
                  <a:schemeClr val="bg1"/>
                </a:solidFill>
              </a:rPr>
              <a:t>Relying solely on price-based indicators restricts the model to historical patterns and ignores fundamental drivers of stock movement.</a:t>
            </a:r>
            <a:endParaRPr lang="en-US" sz="2100" dirty="0">
              <a:solidFill>
                <a:schemeClr val="bg1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238552" y="3310484"/>
            <a:ext cx="4211610" cy="38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Technical Indicators Only 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1942696" y="6921661"/>
            <a:ext cx="4911591" cy="2336639"/>
            <a:chOff x="0" y="0"/>
            <a:chExt cx="1293588" cy="61541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93588" cy="615411"/>
            </a:xfrm>
            <a:custGeom>
              <a:avLst/>
              <a:gdLst/>
              <a:ahLst/>
              <a:cxnLst/>
              <a:rect l="l" t="t" r="r" b="b"/>
              <a:pathLst>
                <a:path w="1293588" h="615411">
                  <a:moveTo>
                    <a:pt x="36254" y="0"/>
                  </a:moveTo>
                  <a:lnTo>
                    <a:pt x="1257334" y="0"/>
                  </a:lnTo>
                  <a:cubicBezTo>
                    <a:pt x="1277356" y="0"/>
                    <a:pt x="1293588" y="16231"/>
                    <a:pt x="1293588" y="36254"/>
                  </a:cubicBezTo>
                  <a:lnTo>
                    <a:pt x="1293588" y="579157"/>
                  </a:lnTo>
                  <a:cubicBezTo>
                    <a:pt x="1293588" y="588772"/>
                    <a:pt x="1289768" y="597994"/>
                    <a:pt x="1282969" y="604793"/>
                  </a:cubicBezTo>
                  <a:cubicBezTo>
                    <a:pt x="1276170" y="611592"/>
                    <a:pt x="1266949" y="615411"/>
                    <a:pt x="1257334" y="615411"/>
                  </a:cubicBezTo>
                  <a:lnTo>
                    <a:pt x="36254" y="615411"/>
                  </a:lnTo>
                  <a:cubicBezTo>
                    <a:pt x="26639" y="615411"/>
                    <a:pt x="17417" y="611592"/>
                    <a:pt x="10619" y="604793"/>
                  </a:cubicBezTo>
                  <a:cubicBezTo>
                    <a:pt x="3820" y="597994"/>
                    <a:pt x="0" y="588772"/>
                    <a:pt x="0" y="579157"/>
                  </a:cubicBezTo>
                  <a:lnTo>
                    <a:pt x="0" y="36254"/>
                  </a:lnTo>
                  <a:cubicBezTo>
                    <a:pt x="0" y="26639"/>
                    <a:pt x="3820" y="17417"/>
                    <a:pt x="10619" y="10619"/>
                  </a:cubicBezTo>
                  <a:cubicBezTo>
                    <a:pt x="17417" y="3820"/>
                    <a:pt x="26639" y="0"/>
                    <a:pt x="36254" y="0"/>
                  </a:cubicBezTo>
                  <a:close/>
                </a:path>
              </a:pathLst>
            </a:custGeom>
            <a:solidFill>
              <a:srgbClr val="141A1F">
                <a:alpha val="81961"/>
              </a:srgbClr>
            </a:solidFill>
            <a:ln w="47625" cap="rnd">
              <a:solidFill>
                <a:srgbClr val="BEC2C7">
                  <a:alpha val="8196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293588" cy="663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292686" y="7577057"/>
            <a:ext cx="4211610" cy="7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400" dirty="0">
                <a:solidFill>
                  <a:schemeClr val="bg1"/>
                </a:solidFill>
              </a:rPr>
              <a:t>sustained market direction and increases </a:t>
            </a:r>
            <a:r>
              <a:rPr lang="en-US" sz="2800" dirty="0">
                <a:solidFill>
                  <a:schemeClr val="bg1"/>
                </a:solidFill>
              </a:rPr>
              <a:t>sensitivity</a:t>
            </a:r>
            <a:r>
              <a:rPr lang="en-US" sz="2400" dirty="0">
                <a:solidFill>
                  <a:schemeClr val="bg1"/>
                </a:solidFill>
              </a:rPr>
              <a:t> to noise</a:t>
            </a:r>
            <a:endParaRPr lang="en-US" sz="2100" dirty="0">
              <a:solidFill>
                <a:srgbClr val="FFFFFF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91EDA570-3822-069C-E8E2-2A37B6D5C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macroeconomic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sentiment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indicators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 prediction horizon</a:t>
            </a:r>
          </a:p>
        </p:txBody>
      </p:sp>
      <p:sp>
        <p:nvSpPr>
          <p:cNvPr id="35" name="TextBox 19">
            <a:extLst>
              <a:ext uri="{FF2B5EF4-FFF2-40B4-BE49-F238E27FC236}">
                <a16:creationId xmlns:a16="http://schemas.microsoft.com/office/drawing/2014/main" id="{C9803FA1-1BA1-822F-283F-2F5418BEAD1E}"/>
              </a:ext>
            </a:extLst>
          </p:cNvPr>
          <p:cNvSpPr txBox="1"/>
          <p:nvPr/>
        </p:nvSpPr>
        <p:spPr>
          <a:xfrm>
            <a:off x="1626586" y="3953001"/>
            <a:ext cx="3953358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400" dirty="0">
                <a:solidFill>
                  <a:schemeClr val="bg1"/>
                </a:solidFill>
              </a:rPr>
              <a:t>The model does not account for economic factors such as interest rates, inflation, or policy changes that strongly influence market trends.</a:t>
            </a:r>
            <a:endParaRPr lang="en-US" sz="2100" dirty="0">
              <a:solidFill>
                <a:schemeClr val="bg1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9C7EF0CD-0BD8-D235-A090-A844BA6E18E9}"/>
              </a:ext>
            </a:extLst>
          </p:cNvPr>
          <p:cNvSpPr txBox="1"/>
          <p:nvPr/>
        </p:nvSpPr>
        <p:spPr>
          <a:xfrm>
            <a:off x="2180716" y="7815153"/>
            <a:ext cx="3953358" cy="373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dirty="0">
                <a:solidFill>
                  <a:srgbClr val="75FF82"/>
                </a:solidFill>
                <a:latin typeface="+mj-lt"/>
                <a:ea typeface="TT Hoves"/>
                <a:cs typeface="TT Hoves"/>
                <a:sym typeface="TT Hoves"/>
              </a:rPr>
              <a:t>Short Prediction Horizon: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90997" y="904258"/>
            <a:ext cx="6841674" cy="81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dirty="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Recommendations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65919" y="2097184"/>
            <a:ext cx="8115300" cy="8011533"/>
            <a:chOff x="0" y="0"/>
            <a:chExt cx="2137363" cy="21100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7363" cy="2110033"/>
            </a:xfrm>
            <a:custGeom>
              <a:avLst/>
              <a:gdLst/>
              <a:ahLst/>
              <a:cxnLst/>
              <a:rect l="l" t="t" r="r" b="b"/>
              <a:pathLst>
                <a:path w="2137363" h="2110033">
                  <a:moveTo>
                    <a:pt x="34344" y="0"/>
                  </a:moveTo>
                  <a:lnTo>
                    <a:pt x="2103019" y="0"/>
                  </a:lnTo>
                  <a:cubicBezTo>
                    <a:pt x="2112128" y="0"/>
                    <a:pt x="2120863" y="3618"/>
                    <a:pt x="2127304" y="10059"/>
                  </a:cubicBezTo>
                  <a:cubicBezTo>
                    <a:pt x="2133745" y="16500"/>
                    <a:pt x="2137363" y="25235"/>
                    <a:pt x="2137363" y="34344"/>
                  </a:cubicBezTo>
                  <a:lnTo>
                    <a:pt x="2137363" y="2075690"/>
                  </a:lnTo>
                  <a:cubicBezTo>
                    <a:pt x="2137363" y="2084798"/>
                    <a:pt x="2133745" y="2093534"/>
                    <a:pt x="2127304" y="2099974"/>
                  </a:cubicBezTo>
                  <a:cubicBezTo>
                    <a:pt x="2120863" y="2106415"/>
                    <a:pt x="2112128" y="2110033"/>
                    <a:pt x="2103019" y="2110033"/>
                  </a:cubicBezTo>
                  <a:lnTo>
                    <a:pt x="34344" y="2110033"/>
                  </a:lnTo>
                  <a:cubicBezTo>
                    <a:pt x="25235" y="2110033"/>
                    <a:pt x="16500" y="2106415"/>
                    <a:pt x="10059" y="2099974"/>
                  </a:cubicBezTo>
                  <a:cubicBezTo>
                    <a:pt x="3618" y="2093534"/>
                    <a:pt x="0" y="2084798"/>
                    <a:pt x="0" y="2075690"/>
                  </a:cubicBezTo>
                  <a:lnTo>
                    <a:pt x="0" y="34344"/>
                  </a:lnTo>
                  <a:cubicBezTo>
                    <a:pt x="0" y="25235"/>
                    <a:pt x="3618" y="16500"/>
                    <a:pt x="10059" y="10059"/>
                  </a:cubicBezTo>
                  <a:cubicBezTo>
                    <a:pt x="16500" y="3618"/>
                    <a:pt x="25235" y="0"/>
                    <a:pt x="3434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0000"/>
                  </a:srgbClr>
                </a:gs>
                <a:gs pos="100000">
                  <a:srgbClr val="33CD91">
                    <a:alpha val="70000"/>
                  </a:srgbClr>
                </a:gs>
              </a:gsLst>
              <a:lin ang="0"/>
            </a:gradFill>
            <a:ln w="47625" cap="rnd">
              <a:solidFill>
                <a:srgbClr val="BEC2C7">
                  <a:alpha val="6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137363" cy="215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570671" y="875137"/>
            <a:ext cx="762000" cy="640080"/>
          </a:xfrm>
          <a:custGeom>
            <a:avLst/>
            <a:gdLst/>
            <a:ahLst/>
            <a:cxnLst/>
            <a:rect l="l" t="t" r="r" b="b"/>
            <a:pathLst>
              <a:path w="762000" h="64008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8" name="TextBox 18"/>
          <p:cNvSpPr txBox="1"/>
          <p:nvPr/>
        </p:nvSpPr>
        <p:spPr>
          <a:xfrm>
            <a:off x="9516293" y="2742767"/>
            <a:ext cx="7435378" cy="6648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800" dirty="0">
                <a:solidFill>
                  <a:schemeClr val="bg1"/>
                </a:solidFill>
                <a:latin typeface="+mj-lt"/>
                <a:ea typeface="TT Hoves"/>
                <a:cs typeface="TT Hoves"/>
                <a:sym typeface="TT Hoves"/>
              </a:rPr>
              <a:t> </a:t>
            </a:r>
            <a:r>
              <a:rPr lang="en-US" sz="4800" dirty="0">
                <a:solidFill>
                  <a:schemeClr val="bg1"/>
                </a:solidFill>
                <a:latin typeface="+mj-lt"/>
              </a:rPr>
              <a:t>Add return-based features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800" dirty="0">
                <a:solidFill>
                  <a:schemeClr val="bg1"/>
                </a:solidFill>
                <a:latin typeface="+mj-lt"/>
              </a:rPr>
              <a:t>Market regime classification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800" dirty="0">
                <a:solidFill>
                  <a:schemeClr val="bg1"/>
                </a:solidFill>
                <a:latin typeface="+mj-lt"/>
              </a:rPr>
              <a:t>Gradient Boosting / </a:t>
            </a:r>
            <a:r>
              <a:rPr lang="en-US" sz="4800" dirty="0" err="1">
                <a:solidFill>
                  <a:schemeClr val="bg1"/>
                </a:solidFill>
                <a:latin typeface="+mj-lt"/>
              </a:rPr>
              <a:t>XGBoost</a:t>
            </a:r>
            <a:endParaRPr lang="en-US" sz="4800" dirty="0">
              <a:solidFill>
                <a:schemeClr val="bg1"/>
              </a:solidFill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800" dirty="0">
                <a:solidFill>
                  <a:schemeClr val="bg1"/>
                </a:solidFill>
                <a:latin typeface="+mj-lt"/>
              </a:rPr>
              <a:t>LSTM </a:t>
            </a:r>
            <a:r>
              <a:rPr lang="en-CA" sz="4800" dirty="0">
                <a:solidFill>
                  <a:schemeClr val="bg1"/>
                </a:solidFill>
                <a:latin typeface="+mj-lt"/>
              </a:rPr>
              <a:t>(Long Short-Term Memory)</a:t>
            </a:r>
            <a:r>
              <a:rPr lang="en-US" sz="4800" dirty="0">
                <a:solidFill>
                  <a:schemeClr val="bg1"/>
                </a:solidFill>
                <a:latin typeface="+mj-lt"/>
              </a:rPr>
              <a:t> time-series models</a:t>
            </a:r>
          </a:p>
          <a:p>
            <a:endParaRPr lang="en-US" sz="4800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ts val="6719"/>
              </a:lnSpc>
            </a:pPr>
            <a:endParaRPr lang="en-US" sz="2800" dirty="0">
              <a:solidFill>
                <a:schemeClr val="bg1"/>
              </a:solidFill>
              <a:ea typeface="TT Hoves"/>
              <a:cs typeface="TT Hoves"/>
              <a:sym typeface="TT Hoves"/>
            </a:endParaRP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2BAC6468-97C4-1914-6822-E439A997B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04D81D0-274E-692D-25A3-A75DAE43B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2C4E7DF6-E0DD-722D-8F59-9B15F7422D66}"/>
              </a:ext>
            </a:extLst>
          </p:cNvPr>
          <p:cNvSpPr/>
          <p:nvPr/>
        </p:nvSpPr>
        <p:spPr>
          <a:xfrm>
            <a:off x="1015204" y="667414"/>
            <a:ext cx="6781800" cy="4525310"/>
          </a:xfrm>
          <a:custGeom>
            <a:avLst/>
            <a:gdLst/>
            <a:ahLst/>
            <a:cxnLst/>
            <a:rect l="l" t="t" r="r" b="b"/>
            <a:pathLst>
              <a:path w="12333188" h="8229600">
                <a:moveTo>
                  <a:pt x="0" y="0"/>
                </a:moveTo>
                <a:lnTo>
                  <a:pt x="12333188" y="0"/>
                </a:lnTo>
                <a:lnTo>
                  <a:pt x="123331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4" name="Freeform 8">
            <a:extLst>
              <a:ext uri="{FF2B5EF4-FFF2-40B4-BE49-F238E27FC236}">
                <a16:creationId xmlns:a16="http://schemas.microsoft.com/office/drawing/2014/main" id="{E8F46340-0226-F81E-B195-C03619943E29}"/>
              </a:ext>
            </a:extLst>
          </p:cNvPr>
          <p:cNvSpPr/>
          <p:nvPr/>
        </p:nvSpPr>
        <p:spPr>
          <a:xfrm>
            <a:off x="1015204" y="5555035"/>
            <a:ext cx="6781800" cy="4525310"/>
          </a:xfrm>
          <a:custGeom>
            <a:avLst/>
            <a:gdLst/>
            <a:ahLst/>
            <a:cxnLst/>
            <a:rect l="l" t="t" r="r" b="b"/>
            <a:pathLst>
              <a:path w="14613660" h="9751297">
                <a:moveTo>
                  <a:pt x="0" y="0"/>
                </a:moveTo>
                <a:lnTo>
                  <a:pt x="14613660" y="0"/>
                </a:lnTo>
                <a:lnTo>
                  <a:pt x="14613660" y="9751297"/>
                </a:lnTo>
                <a:lnTo>
                  <a:pt x="0" y="9751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" name="Group 3"/>
          <p:cNvGrpSpPr/>
          <p:nvPr/>
        </p:nvGrpSpPr>
        <p:grpSpPr>
          <a:xfrm>
            <a:off x="1028700" y="847874"/>
            <a:ext cx="16351914" cy="8410426"/>
            <a:chOff x="0" y="-47625"/>
            <a:chExt cx="4306677" cy="2215092"/>
          </a:xfrm>
        </p:grpSpPr>
        <p:sp>
          <p:nvSpPr>
            <p:cNvPr id="4" name="Freeform 4"/>
            <p:cNvSpPr/>
            <p:nvPr/>
          </p:nvSpPr>
          <p:spPr>
            <a:xfrm>
              <a:off x="31951" y="-23812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150295"/>
                  </a:lnTo>
                  <a:cubicBezTo>
                    <a:pt x="4274726" y="2159779"/>
                    <a:pt x="4267038" y="2167467"/>
                    <a:pt x="4257554" y="2167467"/>
                  </a:cubicBezTo>
                  <a:lnTo>
                    <a:pt x="17172" y="2167467"/>
                  </a:lnTo>
                  <a:cubicBezTo>
                    <a:pt x="7688" y="2167467"/>
                    <a:pt x="0" y="2159779"/>
                    <a:pt x="0" y="2150295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0000"/>
                  </a:srgbClr>
                </a:gs>
                <a:gs pos="100000">
                  <a:srgbClr val="33CD91">
                    <a:alpha val="70000"/>
                  </a:srgbClr>
                </a:gs>
              </a:gsLst>
              <a:lin ang="0"/>
            </a:gradFill>
            <a:ln w="47625" cap="rnd">
              <a:solidFill>
                <a:srgbClr val="BEC2C7">
                  <a:alpha val="69804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465129" y="4172347"/>
            <a:ext cx="9357743" cy="174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18"/>
              </a:lnSpc>
            </a:pPr>
            <a:r>
              <a:rPr lang="en-US" sz="10156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  <p:sp>
        <p:nvSpPr>
          <p:cNvPr id="17" name="Freeform 17"/>
          <p:cNvSpPr/>
          <p:nvPr/>
        </p:nvSpPr>
        <p:spPr>
          <a:xfrm>
            <a:off x="2598831" y="1764147"/>
            <a:ext cx="762000" cy="640080"/>
          </a:xfrm>
          <a:custGeom>
            <a:avLst/>
            <a:gdLst/>
            <a:ahLst/>
            <a:cxnLst/>
            <a:rect l="l" t="t" r="r" b="b"/>
            <a:pathLst>
              <a:path w="762000" h="64008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</TotalTime>
  <Words>470</Words>
  <Application>Microsoft Office PowerPoint</Application>
  <PresentationFormat>Custom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Archivo Black</vt:lpstr>
      <vt:lpstr>TT Hoves Bold</vt:lpstr>
      <vt:lpstr>Calibri</vt:lpstr>
      <vt:lpstr>Arial</vt:lpstr>
      <vt:lpstr>TT Hoves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</dc:title>
  <dc:creator>Philia Ayuk</dc:creator>
  <cp:lastModifiedBy>Philia Ayuk</cp:lastModifiedBy>
  <cp:revision>2</cp:revision>
  <dcterms:created xsi:type="dcterms:W3CDTF">2006-08-16T00:00:00Z</dcterms:created>
  <dcterms:modified xsi:type="dcterms:W3CDTF">2025-12-18T21:07:45Z</dcterms:modified>
  <dc:identifier>DAG71Fu1i_g</dc:identifier>
</cp:coreProperties>
</file>